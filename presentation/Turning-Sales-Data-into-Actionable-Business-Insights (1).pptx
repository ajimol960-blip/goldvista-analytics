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6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embeddedFontLst>
    <p:embeddedFont>
      <p:font typeface="Bookman Old Style" panose="02050604050505020204" pitchFamily="18" charset="0"/>
      <p:regular r:id="rId15"/>
      <p:bold r:id="rId16"/>
      <p:italic r:id="rId17"/>
      <p:boldItalic r:id="rId18"/>
    </p:embeddedFont>
    <p:embeddedFont>
      <p:font typeface="Calibri" panose="020F0502020204030204" pitchFamily="34" charset="0"/>
      <p:regular r:id="rId19"/>
      <p:bold r:id="rId20"/>
      <p:italic r:id="rId21"/>
      <p:boldItalic r:id="rId22"/>
    </p:embeddedFont>
    <p:embeddedFont>
      <p:font typeface="Inter" panose="020B0604020202020204" charset="0"/>
      <p:regular r:id="rId23"/>
    </p:embeddedFont>
    <p:embeddedFont>
      <p:font typeface="Inter Bold" panose="020B0604020202020204" charset="0"/>
      <p:regular r:id="rId24"/>
    </p:embeddedFont>
    <p:embeddedFont>
      <p:font typeface="Petrona Bold" panose="020B0604020202020204" charset="0"/>
      <p:regular r:id="rId25"/>
    </p:embeddedFont>
    <p:embeddedFont>
      <p:font typeface="Rockwell" panose="02060603020205020403" pitchFamily="18" charset="0"/>
      <p:regular r:id="rId26"/>
      <p:bold r:id="rId27"/>
      <p:italic r:id="rId28"/>
      <p:boldItalic r:id="rId2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6" d="100"/>
          <a:sy n="66" d="100"/>
        </p:scale>
        <p:origin x="644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font" Target="fonts/font13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1137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47710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401431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196773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646428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905655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871924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541533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583558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30852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38962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014215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96046818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8723375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326414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525777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6976877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6826803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779017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95273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194087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  <p:sldLayoutId id="2147483679" r:id="rId13"/>
    <p:sldLayoutId id="2147483680" r:id="rId14"/>
    <p:sldLayoutId id="2147483681" r:id="rId15"/>
    <p:sldLayoutId id="2147483682" r:id="rId16"/>
    <p:sldLayoutId id="2147483683" r:id="rId17"/>
    <p:sldLayoutId id="2147483684" r:id="rId18"/>
    <p:sldLayoutId id="2147483685" r:id="rId19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jpeg"/><Relationship Id="rId7" Type="http://schemas.openxmlformats.org/officeDocument/2006/relationships/image" Target="../media/image13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Relationship Id="rId9" Type="http://schemas.openxmlformats.org/officeDocument/2006/relationships/image" Target="../media/image15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113459"/>
            <a:ext cx="6296860" cy="12404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900" b="1" kern="0" spc="-78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Turning Sales Data into Actionable Business Insights</a:t>
            </a:r>
            <a:endParaRPr lang="en-US" sz="3900" dirty="0"/>
          </a:p>
        </p:txBody>
      </p:sp>
      <p:sp>
        <p:nvSpPr>
          <p:cNvPr id="4" name="Text 1"/>
          <p:cNvSpPr/>
          <p:nvPr/>
        </p:nvSpPr>
        <p:spPr>
          <a:xfrm>
            <a:off x="661475" y="3429496"/>
            <a:ext cx="6296860" cy="7443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300" b="1" kern="0" spc="-47" dirty="0">
                <a:solidFill>
                  <a:srgbClr val="FCEC99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GoldVista — Sales &amp; Business Analytics   Dashboard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61475" y="4457303"/>
            <a:ext cx="927573" cy="287139"/>
          </a:xfrm>
          <a:prstGeom prst="roundRect">
            <a:avLst>
              <a:gd name="adj" fmla="val 22118"/>
            </a:avLst>
          </a:prstGeom>
          <a:solidFill>
            <a:srgbClr val="1C113B"/>
          </a:solidFill>
          <a:ln/>
        </p:spPr>
      </p:sp>
      <p:sp>
        <p:nvSpPr>
          <p:cNvPr id="6" name="Text 3"/>
          <p:cNvSpPr/>
          <p:nvPr/>
        </p:nvSpPr>
        <p:spPr>
          <a:xfrm>
            <a:off x="774879" y="4513957"/>
            <a:ext cx="1310349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kern="0" spc="-3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BI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1683502" y="4457303"/>
            <a:ext cx="513444" cy="287139"/>
          </a:xfrm>
          <a:prstGeom prst="roundRect">
            <a:avLst>
              <a:gd name="adj" fmla="val 22118"/>
            </a:avLst>
          </a:prstGeom>
          <a:noFill/>
          <a:ln w="6350">
            <a:solidFill>
              <a:srgbClr val="876CD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796906" y="4513957"/>
            <a:ext cx="896221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kern="0" spc="-30" dirty="0">
                <a:solidFill>
                  <a:srgbClr val="876C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329760" y="4418511"/>
            <a:ext cx="3445257" cy="230485"/>
          </a:xfrm>
          <a:prstGeom prst="roundRect">
            <a:avLst>
              <a:gd name="adj" fmla="val 22118"/>
            </a:avLst>
          </a:prstGeom>
          <a:solidFill>
            <a:srgbClr val="1C113B"/>
          </a:solidFill>
          <a:ln/>
        </p:spPr>
      </p:sp>
      <p:sp>
        <p:nvSpPr>
          <p:cNvPr id="10" name="Text 7"/>
          <p:cNvSpPr/>
          <p:nvPr/>
        </p:nvSpPr>
        <p:spPr>
          <a:xfrm>
            <a:off x="2443164" y="4475165"/>
            <a:ext cx="2884812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600" b="1" i="1" kern="0" spc="-3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PREPARED BY </a:t>
            </a:r>
            <a:r>
              <a:rPr lang="en-US" sz="1600" b="1" i="1" kern="0" spc="-3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AJIMOL .SHAHEER</a:t>
            </a:r>
            <a:endParaRPr lang="en-US" sz="1600" b="1" i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521791"/>
            <a:ext cx="6296860" cy="8913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kern="0" spc="-56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High Transaction Volume Requires Faster Business Visibility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233360" y="1559620"/>
            <a:ext cx="6296860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GoldVista operates across multiple branches, product lines, customer segments, and sales teams — generating significant daily transaction volume. A centralized, interactive dashboard was needed to monitor performance in real time and surface actionable opportunities.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233360" y="2297509"/>
            <a:ext cx="6296860" cy="448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500" b="1" kern="0" spc="-7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352.56M</a:t>
            </a:r>
            <a:endParaRPr lang="en-US" sz="3500" dirty="0"/>
          </a:p>
        </p:txBody>
      </p:sp>
      <p:sp>
        <p:nvSpPr>
          <p:cNvPr id="6" name="Text 3"/>
          <p:cNvSpPr/>
          <p:nvPr/>
        </p:nvSpPr>
        <p:spPr>
          <a:xfrm>
            <a:off x="5233360" y="2886968"/>
            <a:ext cx="6296860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kern="0" spc="-28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Total Revenue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233360" y="3372941"/>
            <a:ext cx="6296860" cy="448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500" b="1" kern="0" spc="-7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62K</a:t>
            </a:r>
            <a:endParaRPr lang="en-US" sz="3500" dirty="0"/>
          </a:p>
        </p:txBody>
      </p:sp>
      <p:sp>
        <p:nvSpPr>
          <p:cNvPr id="8" name="Text 5"/>
          <p:cNvSpPr/>
          <p:nvPr/>
        </p:nvSpPr>
        <p:spPr>
          <a:xfrm>
            <a:off x="5233360" y="3962400"/>
            <a:ext cx="6296860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kern="0" spc="-28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Total Invoices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233360" y="4448373"/>
            <a:ext cx="6296860" cy="448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500" b="1" kern="0" spc="-7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2.62M g</a:t>
            </a:r>
            <a:endParaRPr lang="en-US" sz="3500" dirty="0"/>
          </a:p>
        </p:txBody>
      </p:sp>
      <p:sp>
        <p:nvSpPr>
          <p:cNvPr id="10" name="Text 7"/>
          <p:cNvSpPr/>
          <p:nvPr/>
        </p:nvSpPr>
        <p:spPr>
          <a:xfrm>
            <a:off x="5233360" y="5037832"/>
            <a:ext cx="6296860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kern="0" spc="-28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Total Weight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233360" y="5523805"/>
            <a:ext cx="6296860" cy="448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500" b="1" kern="0" spc="-7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1.72%</a:t>
            </a:r>
            <a:endParaRPr lang="en-US" sz="3500" dirty="0"/>
          </a:p>
        </p:txBody>
      </p:sp>
      <p:sp>
        <p:nvSpPr>
          <p:cNvPr id="12" name="Text 9"/>
          <p:cNvSpPr/>
          <p:nvPr/>
        </p:nvSpPr>
        <p:spPr>
          <a:xfrm>
            <a:off x="5233360" y="6113264"/>
            <a:ext cx="6296860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kern="0" spc="-28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Return Rate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4173"/>
            <a:ext cx="10868745" cy="4748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kern="0" spc="-60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Five Critical Business Questions Drive This Analysis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61475" y="1220589"/>
            <a:ext cx="11478330" cy="204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kern="0" spc="-23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insight in this dashboard traces back to a core operational question — ensuring analysis stays focused on decisions that matter.</a:t>
            </a:r>
            <a:endParaRPr lang="en-US" sz="11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1549598"/>
            <a:ext cx="10868745" cy="86826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8221" y="1848048"/>
            <a:ext cx="216986" cy="271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b="1" kern="0" spc="-34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370077" y="1713309"/>
            <a:ext cx="9996436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kern="0" spc="-30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Revenue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1370077" y="2017117"/>
            <a:ext cx="9996436" cy="204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kern="0" spc="-23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is overall revenue performing across the business?</a:t>
            </a:r>
            <a:endParaRPr lang="en-US" sz="11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528590"/>
            <a:ext cx="10868745" cy="86826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58221" y="2827040"/>
            <a:ext cx="216986" cy="271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b="1" kern="0" spc="-34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1370077" y="2692301"/>
            <a:ext cx="9996436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kern="0" spc="-30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Branches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370077" y="2996109"/>
            <a:ext cx="9996436" cy="204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kern="0" spc="-23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branches contribute most to business performance?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3507581"/>
            <a:ext cx="10868745" cy="86826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58221" y="3806031"/>
            <a:ext cx="216986" cy="271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b="1" kern="0" spc="-34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1370077" y="3671292"/>
            <a:ext cx="9996436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kern="0" spc="-30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Products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1370077" y="3975100"/>
            <a:ext cx="9996436" cy="204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kern="0" spc="-23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item types and karats drive sales?</a:t>
            </a:r>
            <a:endParaRPr lang="en-US" sz="11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486573"/>
            <a:ext cx="10868745" cy="868263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58221" y="4785023"/>
            <a:ext cx="216986" cy="271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b="1" kern="0" spc="-34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1370077" y="4650284"/>
            <a:ext cx="9996436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kern="0" spc="-30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Customers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1370077" y="4954091"/>
            <a:ext cx="9996436" cy="204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kern="0" spc="-23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effectively is the business retaining customers?</a:t>
            </a:r>
            <a:endParaRPr lang="en-US" sz="11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5465564"/>
            <a:ext cx="10868745" cy="868263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858221" y="5764014"/>
            <a:ext cx="216986" cy="271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b="1" kern="0" spc="-34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15"/>
          <p:cNvSpPr/>
          <p:nvPr/>
        </p:nvSpPr>
        <p:spPr>
          <a:xfrm>
            <a:off x="1370077" y="5629275"/>
            <a:ext cx="9996436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kern="0" spc="-30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Returns &amp; Buy-Back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1370077" y="5933083"/>
            <a:ext cx="9996436" cy="204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kern="0" spc="-23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are returns and buy-back activities concentrated?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3100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50" b="1" kern="0" spc="-39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SQL Transforms Raw Transaction Data into a Business-Ready Dataset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661475" y="2569945"/>
            <a:ext cx="5319083" cy="1156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b="1" i="1" kern="0" spc="-15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structured data pipeline ensures every insight is grounded in clean, validated, and business-ready data — from raw transactions to interactive dashboards.</a:t>
            </a:r>
            <a:endParaRPr lang="en-US" b="1" i="1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487" y="953790"/>
            <a:ext cx="5319083" cy="531921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094709"/>
            <a:ext cx="2681717" cy="498277"/>
          </a:xfrm>
          <a:prstGeom prst="roundRect">
            <a:avLst>
              <a:gd name="adj" fmla="val 7966"/>
            </a:avLst>
          </a:prstGeom>
          <a:solidFill>
            <a:srgbClr val="2F1D63"/>
          </a:solidFill>
          <a:ln w="6350">
            <a:solidFill>
              <a:srgbClr val="48367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96061" y="6188868"/>
            <a:ext cx="2480109" cy="154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kern="0" spc="-20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SQL</a:t>
            </a:r>
            <a:endParaRPr lang="en-US" sz="1200" b="1" dirty="0"/>
          </a:p>
        </p:txBody>
      </p:sp>
      <p:sp>
        <p:nvSpPr>
          <p:cNvPr id="7" name="Text 4"/>
          <p:cNvSpPr/>
          <p:nvPr/>
        </p:nvSpPr>
        <p:spPr>
          <a:xfrm>
            <a:off x="100804" y="6378773"/>
            <a:ext cx="2480109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-15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Cleaning &amp; Joins</a:t>
            </a:r>
            <a:endParaRPr lang="en-US" sz="1200" b="1" dirty="0"/>
          </a:p>
        </p:txBody>
      </p:sp>
      <p:sp>
        <p:nvSpPr>
          <p:cNvPr id="8" name="Shape 5"/>
          <p:cNvSpPr/>
          <p:nvPr/>
        </p:nvSpPr>
        <p:spPr>
          <a:xfrm>
            <a:off x="2728943" y="6094709"/>
            <a:ext cx="2681816" cy="498277"/>
          </a:xfrm>
          <a:prstGeom prst="roundRect">
            <a:avLst>
              <a:gd name="adj" fmla="val 7966"/>
            </a:avLst>
          </a:prstGeom>
          <a:solidFill>
            <a:srgbClr val="2F1D63"/>
          </a:solidFill>
          <a:ln w="6350">
            <a:solidFill>
              <a:srgbClr val="48367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829747" y="6195516"/>
            <a:ext cx="2480208" cy="154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kern="0" spc="-20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PostgreSQL</a:t>
            </a:r>
            <a:endParaRPr lang="en-US" sz="1200" b="1" dirty="0"/>
          </a:p>
        </p:txBody>
      </p:sp>
      <p:sp>
        <p:nvSpPr>
          <p:cNvPr id="10" name="Text 7"/>
          <p:cNvSpPr/>
          <p:nvPr/>
        </p:nvSpPr>
        <p:spPr>
          <a:xfrm>
            <a:off x="2829747" y="6378773"/>
            <a:ext cx="2480208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-15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 Engine</a:t>
            </a:r>
            <a:endParaRPr lang="en-US" sz="1200" b="1" dirty="0"/>
          </a:p>
        </p:txBody>
      </p:sp>
      <p:sp>
        <p:nvSpPr>
          <p:cNvPr id="11" name="Shape 8"/>
          <p:cNvSpPr/>
          <p:nvPr/>
        </p:nvSpPr>
        <p:spPr>
          <a:xfrm>
            <a:off x="5457986" y="6094709"/>
            <a:ext cx="2681717" cy="498277"/>
          </a:xfrm>
          <a:prstGeom prst="roundRect">
            <a:avLst>
              <a:gd name="adj" fmla="val 7966"/>
            </a:avLst>
          </a:prstGeom>
          <a:solidFill>
            <a:srgbClr val="2F1D63"/>
          </a:solidFill>
          <a:ln w="6350">
            <a:solidFill>
              <a:srgbClr val="48367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58790" y="6195516"/>
            <a:ext cx="2480109" cy="154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kern="0" spc="-20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Power BI</a:t>
            </a:r>
            <a:endParaRPr lang="en-US" sz="1200" b="1" dirty="0"/>
          </a:p>
        </p:txBody>
      </p:sp>
      <p:sp>
        <p:nvSpPr>
          <p:cNvPr id="13" name="Text 10"/>
          <p:cNvSpPr/>
          <p:nvPr/>
        </p:nvSpPr>
        <p:spPr>
          <a:xfrm>
            <a:off x="5606017" y="6372125"/>
            <a:ext cx="2480109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-15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Visualization</a:t>
            </a:r>
            <a:endParaRPr lang="en-US" sz="1200" b="1" dirty="0"/>
          </a:p>
        </p:txBody>
      </p:sp>
      <p:sp>
        <p:nvSpPr>
          <p:cNvPr id="14" name="Shape 11"/>
          <p:cNvSpPr/>
          <p:nvPr/>
        </p:nvSpPr>
        <p:spPr>
          <a:xfrm>
            <a:off x="8186929" y="6094709"/>
            <a:ext cx="2681816" cy="498277"/>
          </a:xfrm>
          <a:prstGeom prst="roundRect">
            <a:avLst>
              <a:gd name="adj" fmla="val 7966"/>
            </a:avLst>
          </a:prstGeom>
          <a:solidFill>
            <a:srgbClr val="2F1D63"/>
          </a:solidFill>
          <a:ln w="6350">
            <a:solidFill>
              <a:srgbClr val="48367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87733" y="6195516"/>
            <a:ext cx="2480208" cy="154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kern="0" spc="-20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DAX</a:t>
            </a:r>
            <a:endParaRPr lang="en-US" sz="1200" b="1" dirty="0"/>
          </a:p>
        </p:txBody>
      </p:sp>
      <p:sp>
        <p:nvSpPr>
          <p:cNvPr id="16" name="Text 13"/>
          <p:cNvSpPr/>
          <p:nvPr/>
        </p:nvSpPr>
        <p:spPr>
          <a:xfrm>
            <a:off x="8334960" y="6372125"/>
            <a:ext cx="2480208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-15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2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521791"/>
            <a:ext cx="6296860" cy="8913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kern="0" spc="-56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352.56M Revenue Across 62K Invoices — Establishing the Business Baseline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661475" y="1627485"/>
            <a:ext cx="6296860" cy="448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500" b="1" kern="0" spc="-7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352.56M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661475" y="2216944"/>
            <a:ext cx="6296860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kern="0" spc="-28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Total Revenue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61475" y="2702917"/>
            <a:ext cx="6296860" cy="448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500" b="1" kern="0" spc="-7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62K</a:t>
            </a:r>
            <a:endParaRPr lang="en-US" sz="3500" dirty="0"/>
          </a:p>
        </p:txBody>
      </p:sp>
      <p:sp>
        <p:nvSpPr>
          <p:cNvPr id="7" name="Text 4"/>
          <p:cNvSpPr/>
          <p:nvPr/>
        </p:nvSpPr>
        <p:spPr>
          <a:xfrm>
            <a:off x="661475" y="3292376"/>
            <a:ext cx="6296860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kern="0" spc="-28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Invoices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61475" y="3778349"/>
            <a:ext cx="6296860" cy="448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500" b="1" kern="0" spc="-7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2.62M g</a:t>
            </a:r>
            <a:endParaRPr lang="en-US" sz="3500" dirty="0"/>
          </a:p>
        </p:txBody>
      </p:sp>
      <p:sp>
        <p:nvSpPr>
          <p:cNvPr id="9" name="Text 6"/>
          <p:cNvSpPr/>
          <p:nvPr/>
        </p:nvSpPr>
        <p:spPr>
          <a:xfrm>
            <a:off x="661475" y="4367808"/>
            <a:ext cx="6296860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kern="0" spc="-28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Weight Sold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61475" y="4853781"/>
            <a:ext cx="6296860" cy="448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500" b="1" kern="0" spc="-7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1.72%</a:t>
            </a:r>
            <a:endParaRPr lang="en-US" sz="3500" dirty="0"/>
          </a:p>
        </p:txBody>
      </p:sp>
      <p:sp>
        <p:nvSpPr>
          <p:cNvPr id="11" name="Text 8"/>
          <p:cNvSpPr/>
          <p:nvPr/>
        </p:nvSpPr>
        <p:spPr>
          <a:xfrm>
            <a:off x="661475" y="5443240"/>
            <a:ext cx="6296860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kern="0" spc="-28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Return Rate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61475" y="5775920"/>
            <a:ext cx="6296860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Average invoice value stands at </a:t>
            </a:r>
            <a:r>
              <a:rPr lang="en-US" sz="1050" b="1" kern="0" spc="-21" dirty="0">
                <a:solidFill>
                  <a:srgbClr val="E0D6DE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5.67K</a:t>
            </a:r>
            <a:r>
              <a:rPr lang="en-US" sz="1050" kern="0" spc="-2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while Old Gold Buy-Back activity totals </a:t>
            </a:r>
            <a:r>
              <a:rPr lang="en-US" sz="1050" b="1" kern="0" spc="-21" dirty="0">
                <a:solidFill>
                  <a:srgbClr val="E0D6DE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143.75K</a:t>
            </a:r>
            <a:r>
              <a:rPr lang="en-US" sz="1050" kern="0" spc="-2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a key secondary revenue stream. The dashboard provides an executive summary view drilling from KPIs through revenue trends, branch performance, division breakdowns, and karat analysis.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3776"/>
            <a:ext cx="10868745" cy="10854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00" b="1" kern="0" spc="-68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Branch, Salesperson &amp; Payment Analysis — Where Revenue Is Generated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61475" y="1970881"/>
            <a:ext cx="5232666" cy="27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kern="0" spc="-34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Payment Method Split</a:t>
            </a:r>
            <a:endParaRPr lang="en-US" sz="1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404963"/>
            <a:ext cx="5232666" cy="37665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303904" y="1970881"/>
            <a:ext cx="5232666" cy="27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kern="0" spc="-34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Key Findings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6303904" y="2386905"/>
            <a:ext cx="5232666" cy="1640086"/>
          </a:xfrm>
          <a:prstGeom prst="rect">
            <a:avLst/>
          </a:prstGeom>
          <a:noFill/>
          <a:ln/>
        </p:spPr>
        <p:txBody>
          <a:bodyPr wrap="square" lIns="0" tIns="66156" rIns="0" bIns="0" rtlCol="0" anchor="t">
            <a:normAutofit/>
          </a:bodyPr>
          <a:lstStyle/>
          <a:p>
            <a:pPr marL="264160" indent="-264160" algn="l">
              <a:lnSpc>
                <a:spcPct val="125000"/>
              </a:lnSpc>
              <a:buSzPct val="100000"/>
              <a:buChar char="•"/>
            </a:pPr>
            <a:r>
              <a:rPr lang="en-US" sz="1300" b="1" kern="0" spc="-26" dirty="0">
                <a:solidFill>
                  <a:srgbClr val="E0D6DE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Cash dominates</a:t>
            </a:r>
            <a:r>
              <a:rPr lang="en-US" sz="1300" kern="0" spc="-26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at 211.23M, representing the majority of collections</a:t>
            </a:r>
            <a:endParaRPr lang="en-US" sz="1300" dirty="0"/>
          </a:p>
          <a:p>
            <a:pPr marL="264160" indent="-264160" algn="l">
              <a:lnSpc>
                <a:spcPct val="125000"/>
              </a:lnSpc>
              <a:buSzPct val="100000"/>
              <a:buChar char="•"/>
            </a:pPr>
            <a:r>
              <a:rPr lang="en-US" sz="1300" b="1" kern="0" spc="-26" dirty="0">
                <a:solidFill>
                  <a:srgbClr val="E0D6DE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MADA payments</a:t>
            </a:r>
            <a:r>
              <a:rPr lang="en-US" sz="1300" kern="0" spc="-26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contribute 92.73M — a growing digital channel</a:t>
            </a:r>
            <a:endParaRPr lang="en-US" sz="1300" dirty="0"/>
          </a:p>
          <a:p>
            <a:pPr marL="264160" indent="-264160" algn="l">
              <a:lnSpc>
                <a:spcPct val="125000"/>
              </a:lnSpc>
              <a:buSzPct val="100000"/>
              <a:buChar char="•"/>
            </a:pPr>
            <a:r>
              <a:rPr lang="en-US" sz="1300" b="1" kern="0" spc="-26" dirty="0">
                <a:solidFill>
                  <a:srgbClr val="E0D6DE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Top salesperson</a:t>
            </a:r>
            <a:r>
              <a:rPr lang="en-US" sz="1300" kern="0" spc="-26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generated 24.05M in individual revenue</a:t>
            </a:r>
            <a:endParaRPr lang="en-US" sz="1300" dirty="0"/>
          </a:p>
          <a:p>
            <a:pPr marL="264160" indent="-264160" algn="l">
              <a:lnSpc>
                <a:spcPct val="125000"/>
              </a:lnSpc>
              <a:buSzPct val="100000"/>
              <a:buChar char="•"/>
            </a:pPr>
            <a:r>
              <a:rPr lang="en-US" sz="1300" kern="0" spc="-26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Branch ranking, karat mix, and salesperson performance are all drillable in the live dashboard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545405"/>
            <a:ext cx="6296860" cy="11822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kern="0" spc="-74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Product &amp; Karat Analysis — What Drives Sales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1985268"/>
            <a:ext cx="6296860" cy="562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kern="0" spc="-28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Understanding which item types and karats perform best enables smarter inventory, pricing, and merchandising decisions.</a:t>
            </a:r>
            <a:endParaRPr lang="en-US" sz="14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33360" y="2741414"/>
            <a:ext cx="450343" cy="45035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898308" y="2741414"/>
            <a:ext cx="5631912" cy="2954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37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Item Type Analysis</a:t>
            </a:r>
            <a:endParaRPr lang="en-US" sz="1850" dirty="0"/>
          </a:p>
        </p:txBody>
      </p:sp>
      <p:sp>
        <p:nvSpPr>
          <p:cNvPr id="7" name="Text 3"/>
          <p:cNvSpPr/>
          <p:nvPr/>
        </p:nvSpPr>
        <p:spPr>
          <a:xfrm>
            <a:off x="5898308" y="3139877"/>
            <a:ext cx="5631912" cy="562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kern="0" spc="-28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Revenue breakdown across rings, chains, bracelets, and other categories — identifying top sellers and underperformers.</a:t>
            </a:r>
            <a:endParaRPr lang="en-US" sz="14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33360" y="4046240"/>
            <a:ext cx="450343" cy="45035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898308" y="4046240"/>
            <a:ext cx="5631912" cy="2954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37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Karat Performance</a:t>
            </a:r>
            <a:endParaRPr lang="en-US" sz="1850" dirty="0"/>
          </a:p>
        </p:txBody>
      </p:sp>
      <p:sp>
        <p:nvSpPr>
          <p:cNvPr id="10" name="Text 5"/>
          <p:cNvSpPr/>
          <p:nvPr/>
        </p:nvSpPr>
        <p:spPr>
          <a:xfrm>
            <a:off x="5898308" y="4444702"/>
            <a:ext cx="5631912" cy="562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kern="0" spc="-28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distribution by karat grade reveals customer preferences and margin opportunities across the product range.</a:t>
            </a:r>
            <a:endParaRPr lang="en-US" sz="14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33360" y="5351066"/>
            <a:ext cx="450343" cy="45035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898308" y="5351066"/>
            <a:ext cx="5631912" cy="2954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37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Discounts &amp; Making Charges</a:t>
            </a:r>
            <a:endParaRPr lang="en-US" sz="1850" dirty="0"/>
          </a:p>
        </p:txBody>
      </p:sp>
      <p:sp>
        <p:nvSpPr>
          <p:cNvPr id="13" name="Text 7"/>
          <p:cNvSpPr/>
          <p:nvPr/>
        </p:nvSpPr>
        <p:spPr>
          <a:xfrm>
            <a:off x="5898308" y="5749528"/>
            <a:ext cx="5631912" cy="562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kern="0" spc="-28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revenue trends alongside discount rates and making charges help optimize pricing strategy.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59408"/>
            <a:ext cx="10868745" cy="4555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50" b="1" kern="0" spc="-57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Only 16.55% of Customers Return — A Major Retention Opportunity</a:t>
            </a:r>
            <a:endParaRPr lang="en-US" sz="28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382415"/>
            <a:ext cx="5265110" cy="378985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71460" y="1369715"/>
            <a:ext cx="5265110" cy="2277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kern="0" spc="-29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Customer Intelligence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271460" y="1699320"/>
            <a:ext cx="5265110" cy="5777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050" kern="0" spc="-22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46K total customers, only </a:t>
            </a:r>
            <a:r>
              <a:rPr lang="en-US" sz="1050" b="1" kern="0" spc="-22" dirty="0">
                <a:solidFill>
                  <a:srgbClr val="E0D6DE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7.73K (16.55%)</a:t>
            </a:r>
            <a:r>
              <a:rPr lang="en-US" sz="1050" kern="0" spc="-22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are repeat buyers — while </a:t>
            </a:r>
            <a:r>
              <a:rPr lang="en-US" sz="1050" b="1" kern="0" spc="-22" dirty="0">
                <a:solidFill>
                  <a:srgbClr val="E0D6DE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83.45%</a:t>
            </a:r>
            <a:r>
              <a:rPr lang="en-US" sz="1050" kern="0" spc="-22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are one-time purchasers. This represents the single largest growth lever for GoldVista.</a:t>
            </a:r>
            <a:endParaRPr lang="en-US" sz="10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5401469"/>
            <a:ext cx="5383375" cy="79712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95526" y="5559326"/>
            <a:ext cx="4991471" cy="2277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kern="0" spc="-29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38K New Customers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895526" y="5848152"/>
            <a:ext cx="4991471" cy="192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050" kern="0" spc="-22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Acquired but not yet retained</a:t>
            </a:r>
            <a:endParaRPr lang="en-US" sz="10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46745" y="5401469"/>
            <a:ext cx="5383475" cy="79712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380797" y="5559326"/>
            <a:ext cx="4991570" cy="2277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kern="0" spc="-29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8K Returning Customers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6380797" y="5848152"/>
            <a:ext cx="4991570" cy="192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050" kern="0" spc="-22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Average lifetime value tracked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3100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50" b="1" kern="0" spc="-39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A 1.72% Return Rate Requires Continuous Monitoring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661475" y="3128211"/>
            <a:ext cx="5319083" cy="427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kern="0" spc="-20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Return &amp; Buy-Back Overview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61475" y="3603427"/>
            <a:ext cx="5319083" cy="1035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i="1" kern="0" spc="-15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While the overall return rate is low at </a:t>
            </a:r>
            <a:r>
              <a:rPr lang="en-US" sz="1200" b="1" i="1" kern="0" spc="-15" dirty="0">
                <a:solidFill>
                  <a:srgbClr val="E0D6DE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1.72%</a:t>
            </a:r>
            <a:r>
              <a:rPr lang="en-US" sz="1200" b="1" i="1" kern="0" spc="-15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branch-level and item-level patterns require ongoing surveillance to prevent escalation. Old Gold Buy-Back activity of </a:t>
            </a:r>
            <a:r>
              <a:rPr lang="en-US" sz="1200" b="1" i="1" kern="0" spc="-15" dirty="0">
                <a:solidFill>
                  <a:srgbClr val="E0D6DE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143.75K</a:t>
            </a:r>
            <a:r>
              <a:rPr lang="en-US" sz="1200" b="1" i="1" kern="0" spc="-15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is a significant secondary flow that must be tracked separately.</a:t>
            </a:r>
            <a:endParaRPr lang="en-US" sz="1200" b="1" i="1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487" y="953790"/>
            <a:ext cx="5319083" cy="531921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094709"/>
            <a:ext cx="2681717" cy="498277"/>
          </a:xfrm>
          <a:prstGeom prst="roundRect">
            <a:avLst>
              <a:gd name="adj" fmla="val 7966"/>
            </a:avLst>
          </a:prstGeom>
          <a:solidFill>
            <a:srgbClr val="2F1D63"/>
          </a:solidFill>
          <a:ln w="6350">
            <a:solidFill>
              <a:srgbClr val="48367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0804" y="6195516"/>
            <a:ext cx="2480109" cy="154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i="1" kern="0" spc="-20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Return Trend</a:t>
            </a:r>
            <a:endParaRPr lang="en-US" sz="1600" b="1" i="1" dirty="0"/>
          </a:p>
        </p:txBody>
      </p:sp>
      <p:sp>
        <p:nvSpPr>
          <p:cNvPr id="8" name="Text 5"/>
          <p:cNvSpPr/>
          <p:nvPr/>
        </p:nvSpPr>
        <p:spPr>
          <a:xfrm>
            <a:off x="100804" y="6378773"/>
            <a:ext cx="2480109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i="1" kern="0" spc="-15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movement</a:t>
            </a:r>
            <a:endParaRPr lang="en-US" sz="1600" b="1" i="1" dirty="0"/>
          </a:p>
        </p:txBody>
      </p:sp>
      <p:sp>
        <p:nvSpPr>
          <p:cNvPr id="9" name="Shape 6"/>
          <p:cNvSpPr/>
          <p:nvPr/>
        </p:nvSpPr>
        <p:spPr>
          <a:xfrm>
            <a:off x="2728943" y="6094709"/>
            <a:ext cx="2681816" cy="498277"/>
          </a:xfrm>
          <a:prstGeom prst="roundRect">
            <a:avLst>
              <a:gd name="adj" fmla="val 7966"/>
            </a:avLst>
          </a:prstGeom>
          <a:solidFill>
            <a:srgbClr val="2F1D63"/>
          </a:solidFill>
          <a:ln w="6350">
            <a:solidFill>
              <a:srgbClr val="48367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829747" y="6195516"/>
            <a:ext cx="2480208" cy="154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i="1" kern="0" spc="-20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By Branch</a:t>
            </a:r>
            <a:endParaRPr lang="en-US" sz="1600" b="1" i="1" dirty="0"/>
          </a:p>
        </p:txBody>
      </p:sp>
      <p:sp>
        <p:nvSpPr>
          <p:cNvPr id="11" name="Text 8"/>
          <p:cNvSpPr/>
          <p:nvPr/>
        </p:nvSpPr>
        <p:spPr>
          <a:xfrm>
            <a:off x="2829747" y="6378773"/>
            <a:ext cx="2480208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i="1" kern="0" spc="-15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 comparison</a:t>
            </a:r>
            <a:endParaRPr lang="en-US" sz="1600" b="1" i="1" dirty="0"/>
          </a:p>
        </p:txBody>
      </p:sp>
      <p:sp>
        <p:nvSpPr>
          <p:cNvPr id="12" name="Shape 9"/>
          <p:cNvSpPr/>
          <p:nvPr/>
        </p:nvSpPr>
        <p:spPr>
          <a:xfrm>
            <a:off x="5457986" y="6094709"/>
            <a:ext cx="2681717" cy="498277"/>
          </a:xfrm>
          <a:prstGeom prst="roundRect">
            <a:avLst>
              <a:gd name="adj" fmla="val 7966"/>
            </a:avLst>
          </a:prstGeom>
          <a:solidFill>
            <a:srgbClr val="2F1D63"/>
          </a:solidFill>
          <a:ln w="6350">
            <a:solidFill>
              <a:srgbClr val="48367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558790" y="6195516"/>
            <a:ext cx="2480109" cy="154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i="1" kern="0" spc="-20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By Item &amp; Karat</a:t>
            </a:r>
            <a:endParaRPr lang="en-US" sz="1600" b="1" i="1" dirty="0"/>
          </a:p>
        </p:txBody>
      </p:sp>
      <p:sp>
        <p:nvSpPr>
          <p:cNvPr id="14" name="Text 11"/>
          <p:cNvSpPr/>
          <p:nvPr/>
        </p:nvSpPr>
        <p:spPr>
          <a:xfrm>
            <a:off x="5558790" y="6378773"/>
            <a:ext cx="2480109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i="1" kern="0" spc="-15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patterns</a:t>
            </a:r>
            <a:endParaRPr lang="en-US" sz="1600" b="1" i="1" dirty="0"/>
          </a:p>
        </p:txBody>
      </p:sp>
      <p:sp>
        <p:nvSpPr>
          <p:cNvPr id="15" name="Shape 12"/>
          <p:cNvSpPr/>
          <p:nvPr/>
        </p:nvSpPr>
        <p:spPr>
          <a:xfrm>
            <a:off x="8186929" y="6094709"/>
            <a:ext cx="2681816" cy="498277"/>
          </a:xfrm>
          <a:prstGeom prst="roundRect">
            <a:avLst>
              <a:gd name="adj" fmla="val 7966"/>
            </a:avLst>
          </a:prstGeom>
          <a:solidFill>
            <a:srgbClr val="2F1D63"/>
          </a:solidFill>
          <a:ln w="6350">
            <a:solidFill>
              <a:srgbClr val="48367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87733" y="6195516"/>
            <a:ext cx="2480208" cy="154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i="1" kern="0" spc="-20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Buy-Back</a:t>
            </a:r>
            <a:endParaRPr lang="en-US" sz="1600" b="1" i="1" dirty="0"/>
          </a:p>
        </p:txBody>
      </p:sp>
      <p:sp>
        <p:nvSpPr>
          <p:cNvPr id="17" name="Text 14"/>
          <p:cNvSpPr/>
          <p:nvPr/>
        </p:nvSpPr>
        <p:spPr>
          <a:xfrm>
            <a:off x="8287733" y="6378773"/>
            <a:ext cx="2480208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i="1" kern="0" spc="-15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Branch distribution</a:t>
            </a:r>
            <a:endParaRPr lang="en-US" sz="1600" b="1" i="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540643"/>
            <a:ext cx="6296860" cy="10467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kern="0" spc="-66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Customer Retention Is the Clearest Growth Opportunity</a:t>
            </a:r>
            <a:endParaRPr lang="en-US" sz="3250" dirty="0"/>
          </a:p>
        </p:txBody>
      </p:sp>
      <p:sp>
        <p:nvSpPr>
          <p:cNvPr id="4" name="Shape 1"/>
          <p:cNvSpPr/>
          <p:nvPr/>
        </p:nvSpPr>
        <p:spPr>
          <a:xfrm>
            <a:off x="661475" y="1789212"/>
            <a:ext cx="358766" cy="358775"/>
          </a:xfrm>
          <a:prstGeom prst="roundRect">
            <a:avLst>
              <a:gd name="adj" fmla="val 18671"/>
            </a:avLst>
          </a:prstGeom>
          <a:solidFill>
            <a:srgbClr val="2F1D63"/>
          </a:solidFill>
          <a:ln w="6350">
            <a:solidFill>
              <a:srgbClr val="48367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15300" y="1811635"/>
            <a:ext cx="251116" cy="313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b="1" kern="0" spc="-40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1154778" y="1843980"/>
            <a:ext cx="5803556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kern="0" spc="-33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Increase Repeat Customers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54778" y="2186285"/>
            <a:ext cx="5803556" cy="235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kern="0" spc="-25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Loyalty programs, targeted follow-ups, and personalized offers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61475" y="2690515"/>
            <a:ext cx="358766" cy="358775"/>
          </a:xfrm>
          <a:prstGeom prst="roundRect">
            <a:avLst>
              <a:gd name="adj" fmla="val 18671"/>
            </a:avLst>
          </a:prstGeom>
          <a:solidFill>
            <a:srgbClr val="2F1D63"/>
          </a:solidFill>
          <a:ln w="6350">
            <a:solidFill>
              <a:srgbClr val="48367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5300" y="2712938"/>
            <a:ext cx="251116" cy="313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b="1" kern="0" spc="-40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7"/>
          <p:cNvSpPr/>
          <p:nvPr/>
        </p:nvSpPr>
        <p:spPr>
          <a:xfrm>
            <a:off x="1154778" y="2745284"/>
            <a:ext cx="5803556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kern="0" spc="-33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Improve Branch Performance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54778" y="3087588"/>
            <a:ext cx="5803556" cy="235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kern="0" spc="-25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branches, replicate best practices, address underperformers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61475" y="3591818"/>
            <a:ext cx="358766" cy="358775"/>
          </a:xfrm>
          <a:prstGeom prst="roundRect">
            <a:avLst>
              <a:gd name="adj" fmla="val 18671"/>
            </a:avLst>
          </a:prstGeom>
          <a:solidFill>
            <a:srgbClr val="2F1D63"/>
          </a:solidFill>
          <a:ln w="6350">
            <a:solidFill>
              <a:srgbClr val="48367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5300" y="3614241"/>
            <a:ext cx="251116" cy="313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b="1" kern="0" spc="-40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</a:t>
            </a:r>
            <a:endParaRPr lang="en-US" sz="1950" dirty="0"/>
          </a:p>
        </p:txBody>
      </p:sp>
      <p:sp>
        <p:nvSpPr>
          <p:cNvPr id="14" name="Text 11"/>
          <p:cNvSpPr/>
          <p:nvPr/>
        </p:nvSpPr>
        <p:spPr>
          <a:xfrm>
            <a:off x="1154778" y="3646587"/>
            <a:ext cx="5803556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kern="0" spc="-33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Strengthen Product Decisions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54778" y="3988891"/>
            <a:ext cx="5803556" cy="235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kern="0" spc="-25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item &amp; karat insights, review discounts, monitor making charges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61475" y="4493121"/>
            <a:ext cx="358766" cy="358775"/>
          </a:xfrm>
          <a:prstGeom prst="roundRect">
            <a:avLst>
              <a:gd name="adj" fmla="val 18671"/>
            </a:avLst>
          </a:prstGeom>
          <a:solidFill>
            <a:srgbClr val="2F1D63"/>
          </a:solidFill>
          <a:ln w="6350">
            <a:solidFill>
              <a:srgbClr val="48367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5300" y="4515545"/>
            <a:ext cx="251116" cy="313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b="1" kern="0" spc="-40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4</a:t>
            </a:r>
            <a:endParaRPr lang="en-US" sz="1950" dirty="0"/>
          </a:p>
        </p:txBody>
      </p:sp>
      <p:sp>
        <p:nvSpPr>
          <p:cNvPr id="18" name="Text 15"/>
          <p:cNvSpPr/>
          <p:nvPr/>
        </p:nvSpPr>
        <p:spPr>
          <a:xfrm>
            <a:off x="1154778" y="4547890"/>
            <a:ext cx="5803556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kern="0" spc="-33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Monitor Returns Proactively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154778" y="4890195"/>
            <a:ext cx="5803556" cy="235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kern="0" spc="-25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Branch-level tracking, item investigation, pattern detection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61475" y="5276652"/>
            <a:ext cx="6296860" cy="1040606"/>
          </a:xfrm>
          <a:prstGeom prst="roundRect">
            <a:avLst>
              <a:gd name="adj" fmla="val 6437"/>
            </a:avLst>
          </a:prstGeom>
          <a:solidFill>
            <a:srgbClr val="2F1D63"/>
          </a:solidFill>
          <a:ln/>
        </p:spPr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915" y="5470128"/>
            <a:ext cx="199325" cy="159445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179681" y="5450979"/>
            <a:ext cx="5619213" cy="7054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b="1" kern="0" spc="-25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Key Takeaway:</a:t>
            </a:r>
            <a:r>
              <a:rPr lang="en-US" sz="1250" kern="0" spc="-2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GoldVista can move from reporting what happened to acting on what happens next — with automated refresh, alerts, forecasting, and retention analytics on the roadmap.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8545"/>
            <a:ext cx="10868745" cy="9689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50" b="1" kern="0" spc="-6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The Dashboard Enables Faster Decisions from Executive KPIs to Operational Detail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661475" y="1778198"/>
            <a:ext cx="11478330" cy="21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kern="0" spc="-23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GoldVista's new analytics dashboard empowers stakeholders to make informed decisions quickly, transitioning from reactive reporting to proactive strategy.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61475" y="2233613"/>
            <a:ext cx="5254295" cy="242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kern="0" spc="-3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What GoldVista Gains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61475" y="2591098"/>
            <a:ext cx="5254295" cy="3107058"/>
          </a:xfrm>
          <a:prstGeom prst="rect">
            <a:avLst/>
          </a:prstGeom>
          <a:noFill/>
          <a:ln/>
        </p:spPr>
        <p:txBody>
          <a:bodyPr wrap="square" lIns="0" tIns="59068" rIns="0" bIns="0" rtlCol="0" anchor="t">
            <a:noAutofit/>
          </a:bodyPr>
          <a:lstStyle/>
          <a:p>
            <a:pPr marL="233680" indent="-233680" algn="l">
              <a:lnSpc>
                <a:spcPct val="250000"/>
              </a:lnSpc>
              <a:buSzPct val="100000"/>
              <a:buChar char="•"/>
            </a:pPr>
            <a:r>
              <a:rPr lang="en-US" sz="1600" kern="0" spc="-23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performance visibility</a:t>
            </a:r>
            <a:endParaRPr lang="en-US" sz="1600" dirty="0"/>
          </a:p>
          <a:p>
            <a:pPr marL="233680" indent="-233680" algn="l">
              <a:lnSpc>
                <a:spcPct val="250000"/>
              </a:lnSpc>
              <a:buSzPct val="100000"/>
              <a:buChar char="•"/>
            </a:pPr>
            <a:r>
              <a:rPr lang="en-US" sz="1600" kern="0" spc="-23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Branch &amp; salesperson comparison</a:t>
            </a:r>
            <a:endParaRPr lang="en-US" sz="1600" dirty="0"/>
          </a:p>
          <a:p>
            <a:pPr marL="233680" indent="-233680" algn="l">
              <a:lnSpc>
                <a:spcPct val="250000"/>
              </a:lnSpc>
              <a:buSzPct val="100000"/>
              <a:buChar char="•"/>
            </a:pPr>
            <a:r>
              <a:rPr lang="en-US" sz="1600" kern="0" spc="-23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&amp; karat insights</a:t>
            </a:r>
            <a:endParaRPr lang="en-US" sz="1600" dirty="0"/>
          </a:p>
          <a:p>
            <a:pPr marL="233680" indent="-233680" algn="l">
              <a:lnSpc>
                <a:spcPct val="250000"/>
              </a:lnSpc>
              <a:buSzPct val="100000"/>
              <a:buChar char="•"/>
            </a:pPr>
            <a:r>
              <a:rPr lang="en-US" sz="1600" kern="0" spc="-23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intelligence</a:t>
            </a:r>
            <a:endParaRPr lang="en-US" sz="1600" dirty="0"/>
          </a:p>
          <a:p>
            <a:pPr marL="233680" indent="-233680" algn="l">
              <a:lnSpc>
                <a:spcPct val="250000"/>
              </a:lnSpc>
              <a:buSzPct val="100000"/>
              <a:buChar char="•"/>
            </a:pPr>
            <a:r>
              <a:rPr lang="en-US" sz="1600" kern="0" spc="-23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 &amp; buy-back monitoring</a:t>
            </a:r>
            <a:endParaRPr lang="en-US" sz="1600" dirty="0"/>
          </a:p>
          <a:p>
            <a:pPr marL="233680" indent="-233680" algn="l">
              <a:lnSpc>
                <a:spcPct val="250000"/>
              </a:lnSpc>
              <a:buSzPct val="100000"/>
              <a:buChar char="•"/>
            </a:pPr>
            <a:r>
              <a:rPr lang="en-US" sz="1600" kern="0" spc="-23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decision support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282275" y="2233613"/>
            <a:ext cx="5254295" cy="242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kern="0" spc="-3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Future Scope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2275" y="2605584"/>
            <a:ext cx="738268" cy="8860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135832" y="2753221"/>
            <a:ext cx="4400738" cy="21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kern="0" spc="-23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Automated Refresh</a:t>
            </a:r>
            <a:endParaRPr lang="en-US" sz="11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2275" y="3491607"/>
            <a:ext cx="738268" cy="88602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135832" y="3639245"/>
            <a:ext cx="4400738" cy="21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kern="0" spc="-23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Alerts</a:t>
            </a:r>
            <a:endParaRPr lang="en-US" sz="11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2275" y="4377630"/>
            <a:ext cx="738268" cy="88602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135832" y="4525268"/>
            <a:ext cx="4400738" cy="21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kern="0" spc="-23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Forecasting</a:t>
            </a:r>
            <a:endParaRPr lang="en-US" sz="11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2275" y="5263654"/>
            <a:ext cx="738268" cy="88602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135832" y="5411291"/>
            <a:ext cx="4400738" cy="21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kern="0" spc="-23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Retention Analytics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6560"/>
            <a:ext cx="10868745" cy="1230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850" b="1" kern="0" spc="-78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GoldVista Can Move from Reporting What Happened to Acting on What Happens Next</a:t>
            </a:r>
            <a:endParaRPr lang="en-US" sz="3850" dirty="0"/>
          </a:p>
        </p:txBody>
      </p:sp>
      <p:sp>
        <p:nvSpPr>
          <p:cNvPr id="3" name="Text 1"/>
          <p:cNvSpPr/>
          <p:nvPr/>
        </p:nvSpPr>
        <p:spPr>
          <a:xfrm>
            <a:off x="356682" y="1953320"/>
            <a:ext cx="11478330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Here's a quick recap of the critical metrics driving this transformation: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1475" y="2317750"/>
            <a:ext cx="5373355" cy="448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500" b="1" kern="0" spc="-7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352.56M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661475" y="2907209"/>
            <a:ext cx="5373355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kern="0" spc="-28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Revenue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156866" y="2317750"/>
            <a:ext cx="5373355" cy="448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500" b="1" kern="0" spc="-7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62K</a:t>
            </a:r>
            <a:endParaRPr lang="en-US" sz="3500" dirty="0"/>
          </a:p>
        </p:txBody>
      </p:sp>
      <p:sp>
        <p:nvSpPr>
          <p:cNvPr id="7" name="Text 5"/>
          <p:cNvSpPr/>
          <p:nvPr/>
        </p:nvSpPr>
        <p:spPr>
          <a:xfrm>
            <a:off x="6156866" y="2907209"/>
            <a:ext cx="5373355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kern="0" spc="-28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Invoices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1475" y="3393182"/>
            <a:ext cx="5373355" cy="448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500" b="1" kern="0" spc="-7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16.55%</a:t>
            </a:r>
            <a:endParaRPr lang="en-US" sz="3500" dirty="0"/>
          </a:p>
        </p:txBody>
      </p:sp>
      <p:sp>
        <p:nvSpPr>
          <p:cNvPr id="9" name="Text 7"/>
          <p:cNvSpPr/>
          <p:nvPr/>
        </p:nvSpPr>
        <p:spPr>
          <a:xfrm>
            <a:off x="661475" y="3982641"/>
            <a:ext cx="5373355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kern="0" spc="-28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Repeat Customers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156866" y="3393182"/>
            <a:ext cx="5373355" cy="448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500" b="1" kern="0" spc="-7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1.72%</a:t>
            </a:r>
            <a:endParaRPr lang="en-US" sz="3500" dirty="0"/>
          </a:p>
        </p:txBody>
      </p:sp>
      <p:sp>
        <p:nvSpPr>
          <p:cNvPr id="11" name="Text 9"/>
          <p:cNvSpPr/>
          <p:nvPr/>
        </p:nvSpPr>
        <p:spPr>
          <a:xfrm>
            <a:off x="6156866" y="3982641"/>
            <a:ext cx="5373355" cy="222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kern="0" spc="-28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Return Rate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1475" y="4351933"/>
            <a:ext cx="10868745" cy="1337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8400" b="1" kern="0" spc="-168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Thank You</a:t>
            </a:r>
            <a:endParaRPr lang="en-US" sz="8400" dirty="0"/>
          </a:p>
        </p:txBody>
      </p:sp>
      <p:sp>
        <p:nvSpPr>
          <p:cNvPr id="13" name="Text 11"/>
          <p:cNvSpPr/>
          <p:nvPr/>
        </p:nvSpPr>
        <p:spPr>
          <a:xfrm>
            <a:off x="661475" y="5835650"/>
            <a:ext cx="10868745" cy="44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800" b="1" kern="0" spc="-56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Questions?</a:t>
            </a:r>
            <a:endParaRPr lang="en-US" sz="2800"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Damask</Template>
  <TotalTime>7</TotalTime>
  <Words>757</Words>
  <Application>Microsoft Office PowerPoint</Application>
  <PresentationFormat>Widescreen</PresentationFormat>
  <Paragraphs>137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Arial</vt:lpstr>
      <vt:lpstr>Rockwell</vt:lpstr>
      <vt:lpstr>Inter</vt:lpstr>
      <vt:lpstr>Calibri</vt:lpstr>
      <vt:lpstr>Petrona Bold</vt:lpstr>
      <vt:lpstr>Bookman Old Style</vt:lpstr>
      <vt:lpstr>Inter Bold</vt:lpstr>
      <vt:lpstr>Damask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lastModifiedBy>SHAHEER K A</cp:lastModifiedBy>
  <cp:revision>8</cp:revision>
  <dcterms:created xsi:type="dcterms:W3CDTF">2026-08-21T16:50:57Z</dcterms:created>
  <dcterms:modified xsi:type="dcterms:W3CDTF">2026-08-23T10:00:41Z</dcterms:modified>
</cp:coreProperties>
</file>